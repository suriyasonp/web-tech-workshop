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0afbce70364ac9" /><Relationship Type="http://schemas.openxmlformats.org/officeDocument/2006/relationships/extended-properties" Target="/docProps/app.xml" Id="Rc0f116c70fca4f67" /><Relationship Type="http://schemas.openxmlformats.org/officeDocument/2006/relationships/officeDocument" Target="/ppt/presentation.xml" Id="R34008372af0341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a14f0f489448f3"/>
  </p:sldMasterIdLst>
  <p:notesMasterIdLst>
    <p:notesMasterId xmlns:r="http://schemas.openxmlformats.org/officeDocument/2006/relationships" r:id="Rc9da1f761b624d27"/>
  </p:notesMasterIdLst>
  <p:sldIdLst>
    <p:sldId xmlns:r="http://schemas.openxmlformats.org/officeDocument/2006/relationships" id="256" r:id="Re6debc9e361c40bf"/>
    <p:sldId xmlns:r="http://schemas.openxmlformats.org/officeDocument/2006/relationships" id="257" r:id="R093757b26f7c4829"/>
    <p:sldId xmlns:r="http://schemas.openxmlformats.org/officeDocument/2006/relationships" id="258" r:id="Rb56a62564bd2495d"/>
    <p:sldId xmlns:r="http://schemas.openxmlformats.org/officeDocument/2006/relationships" id="259" r:id="Ra9537f776feb4854"/>
    <p:sldId xmlns:r="http://schemas.openxmlformats.org/officeDocument/2006/relationships" id="260" r:id="Rf0d4a27e7e0c4e75"/>
    <p:sldId xmlns:r="http://schemas.openxmlformats.org/officeDocument/2006/relationships" id="261" r:id="Rf2e9cbf706f94289"/>
    <p:sldId xmlns:r="http://schemas.openxmlformats.org/officeDocument/2006/relationships" id="262" r:id="Rdae97d8d8d134e50"/>
    <p:sldId xmlns:r="http://schemas.openxmlformats.org/officeDocument/2006/relationships" id="263" r:id="Rda583d5d10c642cf"/>
    <p:sldId xmlns:r="http://schemas.openxmlformats.org/officeDocument/2006/relationships" id="264" r:id="R99decedf8c8c4e03"/>
    <p:sldId xmlns:r="http://schemas.openxmlformats.org/officeDocument/2006/relationships" id="265" r:id="R2ed394cde7f5463b"/>
    <p:sldId xmlns:r="http://schemas.openxmlformats.org/officeDocument/2006/relationships" id="266" r:id="R4674a4963e0742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9762badc924d20" /><Relationship Type="http://schemas.openxmlformats.org/officeDocument/2006/relationships/slideMaster" Target="/ppt/slideMasters/slideMaster1.xml" Id="R59a14f0f489448f3" /><Relationship Type="http://schemas.openxmlformats.org/officeDocument/2006/relationships/notesMaster" Target="/ppt/notesMasters/notesMaster1.xml" Id="Rc9da1f761b624d27" /><Relationship Type="http://schemas.openxmlformats.org/officeDocument/2006/relationships/presProps" Target="/ppt/presProps.xml" Id="R2836a701ef3140a1" /><Relationship Type="http://schemas.openxmlformats.org/officeDocument/2006/relationships/tableStyles" Target="/ppt/tableStyles.xml" Id="R57957ede020647a6" /><Relationship Type="http://schemas.openxmlformats.org/officeDocument/2006/relationships/slide" Target="/ppt/slides/slide1.xml" Id="Re6debc9e361c40bf" /><Relationship Type="http://schemas.openxmlformats.org/officeDocument/2006/relationships/slide" Target="/ppt/slides/slide2.xml" Id="R093757b26f7c4829" /><Relationship Type="http://schemas.openxmlformats.org/officeDocument/2006/relationships/slide" Target="/ppt/slides/slide3.xml" Id="Rb56a62564bd2495d" /><Relationship Type="http://schemas.openxmlformats.org/officeDocument/2006/relationships/slide" Target="/ppt/slides/slide4.xml" Id="Ra9537f776feb4854" /><Relationship Type="http://schemas.openxmlformats.org/officeDocument/2006/relationships/slide" Target="/ppt/slides/slide5.xml" Id="Rf0d4a27e7e0c4e75" /><Relationship Type="http://schemas.openxmlformats.org/officeDocument/2006/relationships/slide" Target="/ppt/slides/slide6.xml" Id="Rf2e9cbf706f94289" /><Relationship Type="http://schemas.openxmlformats.org/officeDocument/2006/relationships/slide" Target="/ppt/slides/slide7.xml" Id="Rdae97d8d8d134e50" /><Relationship Type="http://schemas.openxmlformats.org/officeDocument/2006/relationships/slide" Target="/ppt/slides/slide8.xml" Id="Rda583d5d10c642cf" /><Relationship Type="http://schemas.openxmlformats.org/officeDocument/2006/relationships/slide" Target="/ppt/slides/slide9.xml" Id="R99decedf8c8c4e03" /><Relationship Type="http://schemas.openxmlformats.org/officeDocument/2006/relationships/slide" Target="/ppt/slides/slide10.xml" Id="R2ed394cde7f5463b" /><Relationship Type="http://schemas.openxmlformats.org/officeDocument/2006/relationships/slide" Target="/ppt/slides/slide11.xml" Id="R4674a4963e0742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302a9327ae46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152dbabd794757" /><Relationship Type="http://schemas.openxmlformats.org/officeDocument/2006/relationships/notesMaster" Target="/ppt/notesMasters/notesMaster1.xml" Id="Rf21150c1fefc49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897a33387f432c" /><Relationship Type="http://schemas.openxmlformats.org/officeDocument/2006/relationships/notesMaster" Target="/ppt/notesMasters/notesMaster1.xml" Id="Rba3a98eacfb94c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2b6fb263c34d39" /><Relationship Type="http://schemas.openxmlformats.org/officeDocument/2006/relationships/notesMaster" Target="/ppt/notesMasters/notesMaster1.xml" Id="R61dc53a466b94c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fd108ab6b14c42" /><Relationship Type="http://schemas.openxmlformats.org/officeDocument/2006/relationships/notesMaster" Target="/ppt/notesMasters/notesMaster1.xml" Id="R75338024c52e42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a19a015c56466b" /><Relationship Type="http://schemas.openxmlformats.org/officeDocument/2006/relationships/notesMaster" Target="/ppt/notesMasters/notesMaster1.xml" Id="R792696590acf43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a8e0899490403e" /><Relationship Type="http://schemas.openxmlformats.org/officeDocument/2006/relationships/notesMaster" Target="/ppt/notesMasters/notesMaster1.xml" Id="R4f94db40346c48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7108d04f8f43cb" /><Relationship Type="http://schemas.openxmlformats.org/officeDocument/2006/relationships/notesMaster" Target="/ppt/notesMasters/notesMaster1.xml" Id="Rf8c7441a50e945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66439db9064689" /><Relationship Type="http://schemas.openxmlformats.org/officeDocument/2006/relationships/notesMaster" Target="/ppt/notesMasters/notesMaster1.xml" Id="R5a3147c53fbd4c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ea0eedb2354c50" /><Relationship Type="http://schemas.openxmlformats.org/officeDocument/2006/relationships/notesMaster" Target="/ppt/notesMasters/notesMaster1.xml" Id="R14d54f1793844c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f740205b00456b" /><Relationship Type="http://schemas.openxmlformats.org/officeDocument/2006/relationships/notesMaster" Target="/ppt/notesMasters/notesMaster1.xml" Id="R4da9c1dad6af4b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7d08a55e2048bf" /><Relationship Type="http://schemas.openxmlformats.org/officeDocument/2006/relationships/notesMaster" Target="/ppt/notesMasters/notesMaster1.xml" Id="Rab11aa72ee6f42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final Task Management application.</a:t>
            </a:r>
          </a:p>
          <a:p xmlns:a="http://schemas.openxmlformats.org/drawingml/2006/main">
            <a:r>
              <a:t>Explain that one continuous product connects every session and 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 handoff: follow the matching lab document and verify its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a code demo with a maintainable product.</a:t>
            </a:r>
          </a:p>
          <a:p xmlns:a="http://schemas.openxmlformats.org/drawingml/2006/main">
            <a:r>
              <a:t>Ask students which decisions continue after the first release.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 handoff: follow the matching lab document and verify its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Agile as risk management, not ceremonies.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 handoff: follow the matching lab document and verify its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https://agilemanifesto.org/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a small prompt, then inspect and test the output.</a:t>
            </a:r>
          </a:p>
          <a:p xmlns:a="http://schemas.openxmlformats.org/drawingml/2006/main">
            <a:r>
              <a:t>Make verification part of the prompt-to-commit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 handoff: follow the matching lab document and verify its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verification commands together.</a:t>
            </a:r>
          </a:p>
          <a:p xmlns:a="http://schemas.openxmlformats.org/drawingml/2006/main">
            <a:r>
              <a:t>Move blocked students to Lab 00 recovery early.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 handoff: follow the matching lab document and verify its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one user story all the way to an endpoint and database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 handoff: follow the matching lab document and verify its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TaskApi.http to show the same resource with different verbs.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 handoff: follow the matching lab document and verify its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Program.cs and map each layer to the live 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 handoff: follow the matching lab document and verify its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https://learn.microsoft.com/aspnet/core/fundamentals/minimal-apis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Restart the API and prove that data survives.</a:t>
            </a:r>
          </a:p>
          <a:p xmlns:a="http://schemas.openxmlformats.org/drawingml/2006/main">
            <a:r>
              <a:t>Explain migration versus seed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 handoff: follow the matching lab document and verify its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https://learn.microsoft.com/ef/core/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Login as both roles and compare delete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 handoff: follow the matching lab document and verify its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https://learn.microsoft.com/aspnet/core/security/</a:t>
            </a:r>
          </a:p>
          <a:p xmlns:a="http://schemas.openxmlformats.org/drawingml/2006/main">
            <a:r>
              <a:t>- https://cheatsheetseries.owasp.org/cheatsheets/Authentication_Cheat_Sheet.html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dotnet test and explain Arrange–Act–Assert.</a:t>
            </a:r>
          </a:p>
          <a:p xmlns:a="http://schemas.openxmlformats.org/drawingml/2006/main">
            <a:r>
              <a:t>Preview Day 2: the frontend can now depend on a stable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 handoff: follow the matching lab document and verify its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4140b6fcf41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a26d347ae04d0a" /><Relationship Type="http://schemas.openxmlformats.org/officeDocument/2006/relationships/slideLayout" Target="/ppt/slideLayouts/slideLayout1.xml" Id="Rb9c99f431ae64c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c99f431ae64c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c1021d46c43dc" /><Relationship Type="http://schemas.openxmlformats.org/officeDocument/2006/relationships/notesSlide" Target="/ppt/notesSlides/notesSlide1.xml" Id="Rf9231d053b674b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56185b00b4965" /><Relationship Type="http://schemas.openxmlformats.org/officeDocument/2006/relationships/notesSlide" Target="/ppt/notesSlides/notesSlide2.xml" Id="Ra19df9fc5e9a48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7db588c7d4d90" /><Relationship Type="http://schemas.openxmlformats.org/officeDocument/2006/relationships/notesSlide" Target="/ppt/notesSlides/notesSlide3.xml" Id="Rcacd9b5a041148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33c487f5249ee" /><Relationship Type="http://schemas.openxmlformats.org/officeDocument/2006/relationships/notesSlide" Target="/ppt/notesSlides/notesSlide4.xml" Id="Rf07aabb7c3e54c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7250d4854430b" /><Relationship Type="http://schemas.openxmlformats.org/officeDocument/2006/relationships/notesSlide" Target="/ppt/notesSlides/notesSlide5.xml" Id="Re5c2fe65d64847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aa4ebdd124c45" /><Relationship Type="http://schemas.openxmlformats.org/officeDocument/2006/relationships/notesSlide" Target="/ppt/notesSlides/notesSlide6.xml" Id="R21d84d08b13942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665fc0e054cc6" /><Relationship Type="http://schemas.openxmlformats.org/officeDocument/2006/relationships/notesSlide" Target="/ppt/notesSlides/notesSlide7.xml" Id="R3483b8f4d7074d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d194942f144b5" /><Relationship Type="http://schemas.openxmlformats.org/officeDocument/2006/relationships/notesSlide" Target="/ppt/notesSlides/notesSlide8.xml" Id="R76482a50c9a744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da587eba4440a" /><Relationship Type="http://schemas.openxmlformats.org/officeDocument/2006/relationships/notesSlide" Target="/ppt/notesSlides/notesSlide9.xml" Id="R81c4b7ff276d4e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6d2f6e4654411" /><Relationship Type="http://schemas.openxmlformats.org/officeDocument/2006/relationships/notesSlide" Target="/ppt/notesSlides/notesSlide10.xml" Id="Rc76e5a71ad8041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912217a0742ca" /><Relationship Type="http://schemas.openxmlformats.org/officeDocument/2006/relationships/notesSlide" Target="/ppt/notesSlides/notesSlide11.xml" Id="Rab1d00f82d3b45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E3C12-B25B-4025-B870-3C1741F2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solidFill>
              <a:srgbClr val="FFD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01D24-98FB-4562-86EE-2A4D7A7A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81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7078"/>
                </a:solidFill>
              </a:defRPr>
            </a:pPr>
            <a:r>
              <a:rPr sz="1200" b="1">
                <a:solidFill>
                  <a:srgbClr val="687078"/>
                </a:solidFill>
              </a:rPr>
              <a:t>DAY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5C872-6A0C-44C6-A29A-E3EBA494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Foundation and 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EF78E-2D37-42D8-8D7B-1669DC5E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87078"/>
                </a:solidFill>
              </a:defRPr>
            </a:pPr>
            <a:r>
              <a:rPr sz="1950" b="0">
                <a:solidFill>
                  <a:srgbClr val="687078"/>
                </a:solidFill>
              </a:rPr>
              <a:t>From a real requirement to a tested, secured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31D7B-7FBF-438B-AD6C-CE6F4711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2400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C90EE-6DCA-400B-BEBC-93AD43F8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28800"/>
            <a:ext cx="133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0" b="1">
                <a:solidFill>
                  <a:srgbClr val="FFD000"/>
                </a:solidFill>
              </a:defRPr>
            </a:pPr>
            <a:r>
              <a:rPr sz="6900" b="1">
                <a:solidFill>
                  <a:srgbClr val="FFD000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63789-3E58-4A01-874F-E2B20177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12 September 2026 · 08:30–18:00</a:t>
            </a:r>
          </a:p>
        </p:txBody>
      </p:sp>
    </p:spTree>
    <p:extLst>
      <p:ext uri="{BB962C8B-B14F-4D97-AF65-F5344CB8AC3E}">
        <p14:creationId xmlns:p14="http://schemas.microsoft.com/office/powerpoint/2010/main" val="10324863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BC555-6262-49AA-9317-7B3AAE70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solidFill>
              <a:srgbClr val="FFD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6B5CD-3951-462B-AE59-23ED4A74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SOFTWARE DEVELOPMENT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37590-3F54-44FE-BF68-1D05F003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Real software is a system of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B4BBE-6222-4240-B58A-BF1F6F55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0DF96-9DC7-406D-86E9-C9F9CBF0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KU Web Technology Development ·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96903-DED4-4FA1-8B38-3864E194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D000"/>
                </a:solidFill>
              </a:defRPr>
            </a:pPr>
            <a:r>
              <a:rPr sz="2400" b="1">
                <a:solidFill>
                  <a:srgbClr val="FFD00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61126-7DB6-4A2E-9DFC-E13F0410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4BBB5-4242-49EF-BE56-832DA889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A feature matters only when it solves a real problem.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9C5EE-5F6E-4F51-AC74-5BFA8EE5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812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D000"/>
                </a:solidFill>
              </a:defRPr>
            </a:pPr>
            <a:r>
              <a:rPr sz="2400" b="1">
                <a:solidFill>
                  <a:srgbClr val="FFD000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4D70F-D115-4B98-A009-E575CE97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90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Trade-offs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A4E6D-583C-4F5E-8D09-FF09E0F0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623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Time, quality, security, and maintainability compete.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AAADB-6928-4AB2-8A8B-971A4653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12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D000"/>
                </a:solidFill>
              </a:defRPr>
            </a:pPr>
            <a:r>
              <a:rPr sz="2400" b="1">
                <a:solidFill>
                  <a:srgbClr val="FFD000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27AE4-FC12-4E57-8183-17559369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47AD2-81CD-492A-97E5-51CCB235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623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Working software reveals what documents cannot.</a:t>
            </a:r>
          </a:p>
        </p:txBody>
      </p:sp>
    </p:spTree>
    <p:extLst>
      <p:ext uri="{BB962C8B-B14F-4D97-AF65-F5344CB8AC3E}">
        <p14:creationId xmlns:p14="http://schemas.microsoft.com/office/powerpoint/2010/main" val="9184073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BC6BBC-B7E9-4FCF-80C8-8EAFC649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solidFill>
              <a:srgbClr val="FFD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1D4E4-F430-4D76-9CBF-05E93E29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AGILE DEVELOPMENT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A8160-54C1-46DE-BA26-48F4DA87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Agile reduces the cost of being wrong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FCEF5-FA2B-4D3D-B990-57462B6C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24C23-9B54-4914-A9DA-0299032F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KU Web Technology Development ·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096B5-E2C5-41B8-BB52-0E5A6318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D9626-DF32-4334-BB6C-45BF048A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STEP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256D0-6602-4BE9-A368-A24F1B2D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Choose a small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3B413-EAA2-4B69-B3EC-B59A0107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67025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38E29-F147-4159-9465-51532230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D7A11-D452-4DA3-88D1-94972445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STEP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6C04B-4813-4D24-8946-9596DEB6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Build a thin slice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F9793-3811-4215-88F6-D9EBCAEA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67025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6A9E25-E610-4A51-8570-EA291087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C4FD90-65F6-4F49-941A-8AF26773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STEP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840C59-AB04-45F8-8D75-13B5529F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Review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F50C1-2563-4B9A-B5A2-E1AE35A8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67025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EE01CC-97C5-4CFF-908B-7A289E58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8800A4-2159-48E0-A862-ACF88270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STEP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10204D-AA90-4D50-A802-F7A72236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Adapt the next step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951539-D779-4E9D-9CEF-0FFF136A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67025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79F5FB-3003-44AB-A57C-574A5A20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D000"/>
          </a:solidFill>
          <a:ln xmlns:a="http://schemas.openxmlformats.org/drawingml/2006/main" w="9525">
            <a:solidFill>
              <a:srgbClr val="FFD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F48F55-F28A-4797-BB13-6115E884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9807F-C955-4D2D-8CE9-16CB01F6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Useful increment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754B32-87A4-4714-924A-22DB35B5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Short feedback loops turn uncertainty into learning.</a:t>
            </a:r>
          </a:p>
        </p:txBody>
      </p:sp>
    </p:spTree>
    <p:extLst>
      <p:ext uri="{BB962C8B-B14F-4D97-AF65-F5344CB8AC3E}">
        <p14:creationId xmlns:p14="http://schemas.microsoft.com/office/powerpoint/2010/main" val="12400321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AEC069-3A00-49F3-9371-DFE80CB1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solidFill>
              <a:srgbClr val="FFD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D9E85-FAEB-40CC-B59B-8502005A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AI-ASSISTED DEVELOPMENT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4499A-E579-4593-A110-2B566870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AI accelerates work; humans own judgment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5785D-78A6-4E67-8B7D-FD832C98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03934-AFE6-4E04-84D8-128CFCC2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KU Web Technology Development ·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3AB1A-4D55-4A3E-982C-C6D1CB72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5143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F2F3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FA8D0-6432-4745-B3D6-866A2D35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62150"/>
            <a:ext cx="52578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CEAD4-A995-422B-A65E-C084737C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AI can accelerate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C9F15-777A-43F8-A785-13725EA0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—  Exploration and scaffolding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7DB1E-729B-4F3A-8EDA-37357410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—  Repetitive 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2F253-D8E6-43BF-AD77-F7731F8D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—  Test ideas and explanations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05CBE-1553-4092-80C1-5868220D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—  Documentation drafts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80272-6828-43D0-95ED-EC16D1C1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D000"/>
                </a:solidFill>
              </a:defRPr>
            </a:pPr>
            <a:r>
              <a:rPr sz="2025" b="1">
                <a:solidFill>
                  <a:srgbClr val="FFD000"/>
                </a:solidFill>
              </a:rPr>
              <a:t>The team must 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20CDF-8389-4FDC-BA62-9BC54074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99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—  Requirements and business rules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50EF0-C802-4418-9186-07DD8638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623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—  Architecture and security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994005-EC72-45FB-ABF8-9268810F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—  Verification and accountability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D3F5E3-2B3E-49A7-9E1D-2CDDD838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—  What ships to users</a:t>
            </a:r>
          </a:p>
        </p:txBody>
      </p:sp>
    </p:spTree>
    <p:extLst>
      <p:ext uri="{BB962C8B-B14F-4D97-AF65-F5344CB8AC3E}">
        <p14:creationId xmlns:p14="http://schemas.microsoft.com/office/powerpoint/2010/main" val="8341257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A287F-CC41-4A1B-8EAD-A5A39059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solidFill>
              <a:srgbClr val="FFD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41C06-EF2A-46E8-B7C7-F285B526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DEVELOPMENT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22033-AEA5-427F-B997-DE429BE2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 ready environment protects learning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60206-3A23-4A24-B3E2-F0E8B454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68E79-51D8-41B7-9730-1539A912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KU Web Technology Development ·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6B4E9-0F8C-4A16-8E78-2BECAA1B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D000"/>
                </a:solidFill>
              </a:defRPr>
            </a:pPr>
            <a:r>
              <a:rPr sz="2400" b="1">
                <a:solidFill>
                  <a:srgbClr val="FFD00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21635-4989-4157-9720-3D81D05C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.NET 10 SDK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957B9-F0C5-48D1-8F80-48DB4A66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Build and run the Minimal API and tests.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883DA-0A04-4891-B2B0-950778DA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812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D000"/>
                </a:solidFill>
              </a:defRPr>
            </a:pPr>
            <a:r>
              <a:rPr sz="2400" b="1">
                <a:solidFill>
                  <a:srgbClr val="FFD000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BC9CF-1000-48D8-8766-43C46FD5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90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Node.js + npm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2C690-FFC5-4701-A37E-685B963D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623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Build Vue, TypeScript, and Vite assets.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6059A-311C-4AFC-9BF0-13A16EB0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12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D000"/>
                </a:solidFill>
              </a:defRPr>
            </a:pPr>
            <a:r>
              <a:rPr sz="2400" b="1">
                <a:solidFill>
                  <a:srgbClr val="FFD000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7C9B7-AC9C-4CF8-8A1A-914073FA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Git + VS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44924-5F3E-4FC6-8757-068A0A7C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623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Recover work, inspect changes, and collaborate.</a:t>
            </a:r>
          </a:p>
        </p:txBody>
      </p:sp>
    </p:spTree>
    <p:extLst>
      <p:ext uri="{BB962C8B-B14F-4D97-AF65-F5344CB8AC3E}">
        <p14:creationId xmlns:p14="http://schemas.microsoft.com/office/powerpoint/2010/main" val="20740344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961F0D-F170-425B-95DD-CDDE7819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solidFill>
              <a:srgbClr val="FFD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B609E-2301-4C4C-B93B-30917EBD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REQUIREMENT TO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D2E82-8CAD-4A68-A1AE-0A593CAD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Architecture makes a requirement buildable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0C4A5-7513-40F7-BA7F-2FA6E3C3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D4459-0452-4888-94BF-BECCC465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KU Web Technology Development ·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8B290-A647-4E91-B203-CB2B9A3A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4C68E-86B2-4796-A97C-3A7FDADA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65168-7EF9-406C-8636-60AFA2D1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Manage team tasks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6F6A3-A737-4962-AD3B-D0241F2E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67025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B025F-5206-4C55-BA60-F091DFC9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96FEF-D3D0-49FB-948E-8005F57A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BC6E9-B60B-4EA1-BCC9-AF4CDB80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Login and CRUD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30475-9177-4B93-9197-31ED9316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67025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A9959-399C-4DFB-9CDE-C1EED04B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62174-329D-4DD2-B6E2-C2A4D10C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7038E-0BE2-4629-8C95-11AF594A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REST API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673889-3009-4454-A08A-E6D7D4B2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67025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B8DBE0-B1CC-4B3C-8408-7ECA8268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6B230-FF76-4056-A4AA-48C4D47E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STRUCTURE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B291AF-508B-4F3F-8295-3A61DD2F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Vue + API + DB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48AFA7-F45B-4E5B-BEFB-4B0C71C8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67025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531031-0784-4622-B937-7134220C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D000"/>
          </a:solidFill>
          <a:ln xmlns:a="http://schemas.openxmlformats.org/drawingml/2006/main" w="9525">
            <a:solidFill>
              <a:srgbClr val="FFD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9A6632-8DB5-4896-A241-8EE07EC4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PROOF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3474CB-BEA5-4268-97D9-F6E82A64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Tests and demo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410633-5732-4132-A630-00C06A14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Good architecture connects user behavior to technical boundaries.</a:t>
            </a:r>
          </a:p>
        </p:txBody>
      </p:sp>
    </p:spTree>
    <p:extLst>
      <p:ext uri="{BB962C8B-B14F-4D97-AF65-F5344CB8AC3E}">
        <p14:creationId xmlns:p14="http://schemas.microsoft.com/office/powerpoint/2010/main" val="7480601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23DF6-B9D4-498D-BAA5-B909DEB1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solidFill>
              <a:srgbClr val="FFD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CE1C7-CEA4-4A45-88BE-B05CE912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REST API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56D8C-2A6A-4954-AFBD-9D322462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REST expresses intent through resources and verbs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00A8A-5BE0-4E7E-80AF-FA46F904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FA9E4-9932-4D95-B59E-47009EE4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KU Web Technology Development ·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4E48D-2621-47B1-97F2-40A45AE2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D000"/>
                </a:solidFill>
              </a:defRPr>
            </a:pPr>
            <a:r>
              <a:rPr sz="2400" b="1">
                <a:solidFill>
                  <a:srgbClr val="FFD00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C6F32-FBC5-4732-9A93-478C78D6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8FEDC-9C4E-48B2-92D2-0091A1A5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/api/tasks identifies the collection we manage.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36CDD-DF95-407F-80FD-508C0F67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812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D000"/>
                </a:solidFill>
              </a:defRPr>
            </a:pPr>
            <a:r>
              <a:rPr sz="2400" b="1">
                <a:solidFill>
                  <a:srgbClr val="FFD000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3244C-0F7D-4FB2-802B-6D15C806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90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HTTP verb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F6929-725F-437D-B409-C949B7CB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623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GET reads, POST creates, PUT replaces, DELETE removes.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0A807-A9DE-40A9-8C63-EEEC8778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12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D000"/>
                </a:solidFill>
              </a:defRPr>
            </a:pPr>
            <a:r>
              <a:rPr sz="2400" b="1">
                <a:solidFill>
                  <a:srgbClr val="FFD000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C7F47-3853-469A-910B-8B48009F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Status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90E47-4BC3-4A84-9392-C6F44DF1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623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200, 201, 400, 401, 403, and 404 communicate outcomes.</a:t>
            </a:r>
          </a:p>
        </p:txBody>
      </p:sp>
    </p:spTree>
    <p:extLst>
      <p:ext uri="{BB962C8B-B14F-4D97-AF65-F5344CB8AC3E}">
        <p14:creationId xmlns:p14="http://schemas.microsoft.com/office/powerpoint/2010/main" val="8700023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A4F9C-5795-4076-AD19-A2E8AF53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solidFill>
              <a:srgbClr val="FFD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425E0-E348-4C52-AD0F-543B09D2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.NET 10 MINIMAL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AE15E-4B03-4A90-853C-CE2BBAC2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Minimal API keeps the first request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EF123-6623-4DEF-9224-BECD2AB8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5287E-1A53-41CF-9428-62A56FBD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KU Web Technology Development ·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85809-76F2-463C-90A7-977E2C8E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24050"/>
            <a:ext cx="8001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09DC7-5E8E-4DB3-B1AC-2F20C9DE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859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HTTP 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0809B-17BC-42B7-9367-E398F5EC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62250"/>
            <a:ext cx="6858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FC893-A5C5-49F3-AEF2-02350D06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2417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Endpoint and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B6180-B1D9-467D-99AA-A7694C1B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00450"/>
            <a:ext cx="571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E2F5B-0F6A-4195-9946-D56CEE24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623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TaskService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3230F-AF7C-431B-BB98-DD61C371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38650"/>
            <a:ext cx="457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D000"/>
          </a:solidFill>
          <a:ln xmlns:a="http://schemas.openxmlformats.org/drawingml/2006/main" w="9525">
            <a:solidFill>
              <a:srgbClr val="FFD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B34F9-BAF9-4F90-A128-8EF6BBBB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005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HTTP response</a:t>
            </a:r>
          </a:p>
        </p:txBody>
      </p:sp>
    </p:spTree>
    <p:extLst>
      <p:ext uri="{BB962C8B-B14F-4D97-AF65-F5344CB8AC3E}">
        <p14:creationId xmlns:p14="http://schemas.microsoft.com/office/powerpoint/2010/main" val="4698063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2F690-2114-49D0-A2C8-FEA44A57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solidFill>
              <a:srgbClr val="FFD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7F5D3-7ACB-40D3-8980-C7C23FA0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DATABASE AND EF 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47428-E2D7-4DF8-B5A8-453AD3BB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EF Core turns task objects into persistent records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DF978-98A1-411A-A417-AF010433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B3BAF-9847-4A2E-82D6-5C912135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KU Web Technology Development ·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B0661-F703-405E-991D-772AC5B7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24050"/>
            <a:ext cx="8001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29CE1-9790-4939-9774-4393B2E7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859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Task endpoint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FA137-D420-4BDF-A905-A2289244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62250"/>
            <a:ext cx="6858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178E7-2CA4-48F2-8AEE-216407A3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2417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TaskService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B77A7-51C5-48D2-A38C-D5C8C144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00450"/>
            <a:ext cx="571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853DA-28DC-4D49-BC9B-A206C190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623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AppDbContext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E766E4-D3A1-4251-9E3D-7900683F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38650"/>
            <a:ext cx="457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D000"/>
          </a:solidFill>
          <a:ln xmlns:a="http://schemas.openxmlformats.org/drawingml/2006/main" w="9525">
            <a:solidFill>
              <a:srgbClr val="FFD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7F009-EB1F-4D68-BF6C-D94AC14C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005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SQLite database</a:t>
            </a:r>
          </a:p>
        </p:txBody>
      </p:sp>
    </p:spTree>
    <p:extLst>
      <p:ext uri="{BB962C8B-B14F-4D97-AF65-F5344CB8AC3E}">
        <p14:creationId xmlns:p14="http://schemas.microsoft.com/office/powerpoint/2010/main" val="10996123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90ABD3-35F0-4E9B-8E1E-2A0E7F59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solidFill>
              <a:srgbClr val="FFD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FE4B5-6CAE-4C43-89E3-4AE3F52E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AUTHENTICATION AND AUTHORIZATION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2DD61-A2BA-48BB-8C7B-0B7DBE2E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Identity and permission answer different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86B8A-A847-4C69-B09B-46379EB2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16DBB-6548-4464-8AF2-B9D6F6B5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KU Web Technology Development ·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3C761-B807-45E9-BBA0-4B1A50D5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5143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F2F3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91553-69A4-4623-A0EA-26C4FD10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62150"/>
            <a:ext cx="52578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1EE01-7535-4D86-B47D-E184E61A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Authentication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7A8E8-3FDD-4D96-8A77-A09B4B87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—  Who is making the request?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0E2379-5DFD-47F7-B9AF-1D2B741F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—  Login produces a signed JWT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03435-421E-4B53-8EAC-94422D44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—  Invalid or expired token → 401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40671-B0E4-42D1-96DA-C1E521D0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—  Frontend attaches Bearer token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CC56A-3F7D-4A63-BFC2-047F60C5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D000"/>
                </a:solidFill>
              </a:defRPr>
            </a:pPr>
            <a:r>
              <a:rPr sz="2025" b="1">
                <a:solidFill>
                  <a:srgbClr val="FFD000"/>
                </a:solidFill>
              </a:rPr>
              <a:t>Authorization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4EB36-88EA-4323-890E-987D5415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99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—  What may this user do?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F50F81-252A-4C1C-88C4-EB2344AD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623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—  Role claim carries permission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9A396-43E9-4DB0-BA10-FF485A09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—  Student cannot delete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C46BF5-3A6C-4BF4-B327-BD8B4E4E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—  Forbidden action → 403</a:t>
            </a:r>
          </a:p>
        </p:txBody>
      </p:sp>
    </p:spTree>
    <p:extLst>
      <p:ext uri="{BB962C8B-B14F-4D97-AF65-F5344CB8AC3E}">
        <p14:creationId xmlns:p14="http://schemas.microsoft.com/office/powerpoint/2010/main" val="2697701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31A7B-409C-4B6B-9628-EC06D349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solidFill>
              <a:srgbClr val="FFD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36BE4-CD7A-471F-B335-53C3E040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UNIT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0AAB6-72D1-4078-8498-1C3BF6A2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Tests protect tomorrow’s frontend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7FDD6-139D-40CC-A996-9D05D5C6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8125C-4D31-4F3F-81EA-489C6C41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KU Web Technology Development ·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2BF8A-F280-4F7F-BF37-86320D56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7 automated tests verify the backend contract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8EE19-5F46-4481-86E1-B36E55A7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004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87078"/>
                </a:solidFill>
              </a:defRPr>
            </a:pPr>
            <a:r>
              <a:rPr sz="1875" b="0">
                <a:solidFill>
                  <a:srgbClr val="687078"/>
                </a:solidFill>
              </a:rPr>
              <a:t>Small tests isolate rules; integration tests prove the real HTTP and SQLite 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B2347-0B03-4C60-BA15-7EA160FD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4000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D000"/>
          </a:solidFill>
          <a:ln xmlns:a="http://schemas.openxmlformats.org/drawingml/2006/main" w="9525">
            <a:solidFill>
              <a:srgbClr val="FFD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95F27-B56A-4BC6-A17F-3CED36C2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Checkpoint: backend ready</a:t>
            </a:r>
          </a:p>
        </p:txBody>
      </p:sp>
    </p:spTree>
    <p:extLst>
      <p:ext uri="{BB962C8B-B14F-4D97-AF65-F5344CB8AC3E}">
        <p14:creationId xmlns:p14="http://schemas.microsoft.com/office/powerpoint/2010/main" val="16261999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2026-08-29T16:04:23.8130000Z</dcterms:created>
  <dcterms:modified xsi:type="dcterms:W3CDTF">2026-08-29T16:04:23.8130000Z</dcterms:modified>
</coreProperties>
</file>