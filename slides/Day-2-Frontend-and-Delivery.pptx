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64d02d71d84da8" /><Relationship Type="http://schemas.openxmlformats.org/officeDocument/2006/relationships/extended-properties" Target="/docProps/app.xml" Id="Rc8c163150d7a4265" /><Relationship Type="http://schemas.openxmlformats.org/officeDocument/2006/relationships/officeDocument" Target="/ppt/presentation.xml" Id="R08f4d833be8f47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73c3f94684b70"/>
  </p:sldMasterIdLst>
  <p:notesMasterIdLst>
    <p:notesMasterId xmlns:r="http://schemas.openxmlformats.org/officeDocument/2006/relationships" r:id="R980d0072a2204cfe"/>
  </p:notesMasterIdLst>
  <p:sldIdLst>
    <p:sldId xmlns:r="http://schemas.openxmlformats.org/officeDocument/2006/relationships" id="256" r:id="R012f73c1be534e4e"/>
    <p:sldId xmlns:r="http://schemas.openxmlformats.org/officeDocument/2006/relationships" id="257" r:id="Rc13cb4d725154924"/>
    <p:sldId xmlns:r="http://schemas.openxmlformats.org/officeDocument/2006/relationships" id="258" r:id="R37bb0c480806426c"/>
    <p:sldId xmlns:r="http://schemas.openxmlformats.org/officeDocument/2006/relationships" id="259" r:id="R6e5de793a2a9478b"/>
    <p:sldId xmlns:r="http://schemas.openxmlformats.org/officeDocument/2006/relationships" id="260" r:id="R32134eb7ad414c01"/>
    <p:sldId xmlns:r="http://schemas.openxmlformats.org/officeDocument/2006/relationships" id="261" r:id="Ra1a0075418684503"/>
    <p:sldId xmlns:r="http://schemas.openxmlformats.org/officeDocument/2006/relationships" id="262" r:id="R4eb571038d254899"/>
    <p:sldId xmlns:r="http://schemas.openxmlformats.org/officeDocument/2006/relationships" id="263" r:id="Re4a545f5e7b84114"/>
    <p:sldId xmlns:r="http://schemas.openxmlformats.org/officeDocument/2006/relationships" id="264" r:id="R3bab887bf95a4638"/>
    <p:sldId xmlns:r="http://schemas.openxmlformats.org/officeDocument/2006/relationships" id="265" r:id="Rea09e518fbf842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e7bdf542604946" /><Relationship Type="http://schemas.openxmlformats.org/officeDocument/2006/relationships/slideMaster" Target="/ppt/slideMasters/slideMaster1.xml" Id="R95f73c3f94684b70" /><Relationship Type="http://schemas.openxmlformats.org/officeDocument/2006/relationships/notesMaster" Target="/ppt/notesMasters/notesMaster1.xml" Id="R980d0072a2204cfe" /><Relationship Type="http://schemas.openxmlformats.org/officeDocument/2006/relationships/presProps" Target="/ppt/presProps.xml" Id="R87c0d072a102475e" /><Relationship Type="http://schemas.openxmlformats.org/officeDocument/2006/relationships/tableStyles" Target="/ppt/tableStyles.xml" Id="R64b05f42732940a8" /><Relationship Type="http://schemas.openxmlformats.org/officeDocument/2006/relationships/slide" Target="/ppt/slides/slide1.xml" Id="R012f73c1be534e4e" /><Relationship Type="http://schemas.openxmlformats.org/officeDocument/2006/relationships/slide" Target="/ppt/slides/slide2.xml" Id="Rc13cb4d725154924" /><Relationship Type="http://schemas.openxmlformats.org/officeDocument/2006/relationships/slide" Target="/ppt/slides/slide3.xml" Id="R37bb0c480806426c" /><Relationship Type="http://schemas.openxmlformats.org/officeDocument/2006/relationships/slide" Target="/ppt/slides/slide4.xml" Id="R6e5de793a2a9478b" /><Relationship Type="http://schemas.openxmlformats.org/officeDocument/2006/relationships/slide" Target="/ppt/slides/slide5.xml" Id="R32134eb7ad414c01" /><Relationship Type="http://schemas.openxmlformats.org/officeDocument/2006/relationships/slide" Target="/ppt/slides/slide6.xml" Id="Ra1a0075418684503" /><Relationship Type="http://schemas.openxmlformats.org/officeDocument/2006/relationships/slide" Target="/ppt/slides/slide7.xml" Id="R4eb571038d254899" /><Relationship Type="http://schemas.openxmlformats.org/officeDocument/2006/relationships/slide" Target="/ppt/slides/slide8.xml" Id="Re4a545f5e7b84114" /><Relationship Type="http://schemas.openxmlformats.org/officeDocument/2006/relationships/slide" Target="/ppt/slides/slide9.xml" Id="R3bab887bf95a4638" /><Relationship Type="http://schemas.openxmlformats.org/officeDocument/2006/relationships/slide" Target="/ppt/slides/slide10.xml" Id="Rea09e518fbf842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613644fcf9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c78d1e9f2e4c01" /><Relationship Type="http://schemas.openxmlformats.org/officeDocument/2006/relationships/notesMaster" Target="/ppt/notesMasters/notesMaster1.xml" Id="R7131b183337b42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d5ba97d62444db" /><Relationship Type="http://schemas.openxmlformats.org/officeDocument/2006/relationships/notesMaster" Target="/ppt/notesMasters/notesMaster1.xml" Id="R951bee4763724d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759a1e8954e37" /><Relationship Type="http://schemas.openxmlformats.org/officeDocument/2006/relationships/notesMaster" Target="/ppt/notesMasters/notesMaster1.xml" Id="Re5d59c75a07e42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f648b6b4004e55" /><Relationship Type="http://schemas.openxmlformats.org/officeDocument/2006/relationships/notesMaster" Target="/ppt/notesMasters/notesMaster1.xml" Id="R9029deeed8ab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7639d828f74f40" /><Relationship Type="http://schemas.openxmlformats.org/officeDocument/2006/relationships/notesMaster" Target="/ppt/notesMasters/notesMaster1.xml" Id="R32d8978000cd44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34a336f5c7442f" /><Relationship Type="http://schemas.openxmlformats.org/officeDocument/2006/relationships/notesMaster" Target="/ppt/notesMasters/notesMaster1.xml" Id="R3a681872d4a846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b12b3d4c3497d" /><Relationship Type="http://schemas.openxmlformats.org/officeDocument/2006/relationships/notesMaster" Target="/ppt/notesMasters/notesMaster1.xml" Id="R20a3829cd9a24f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fd6a311602420c" /><Relationship Type="http://schemas.openxmlformats.org/officeDocument/2006/relationships/notesMaster" Target="/ppt/notesMasters/notesMaster1.xml" Id="R466569c9086348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3ffacd4f654afa" /><Relationship Type="http://schemas.openxmlformats.org/officeDocument/2006/relationships/notesMaster" Target="/ppt/notesMasters/notesMaster1.xml" Id="R43739ea66dfa41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14a97492cf41e9" /><Relationship Type="http://schemas.openxmlformats.org/officeDocument/2006/relationships/notesMaster" Target="/ppt/notesMasters/notesMaster1.xml" Id="R44ab9aa6763542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final Task Management application.</a:t>
            </a:r>
          </a:p>
          <a:p xmlns:a="http://schemas.openxmlformats.org/drawingml/2006/main">
            <a:r>
              <a:t>Explain that one continuous product connects every session and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visual polish with task completion.</a:t>
            </a:r>
          </a:p>
          <a:p xmlns:a="http://schemas.openxmlformats.org/drawingml/2006/main">
            <a:r>
              <a:t>Keep the Task workflow as the evaluation lens.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one TaskItem interface and one ref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https://vuejs.org/guide/</a:t>
            </a:r>
          </a:p>
          <a:p xmlns:a="http://schemas.openxmlformats.org/drawingml/2006/main">
            <a:r>
              <a:t>- https://www.typescriptlang.org/docs/handbook/intro.html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workshop CSS as a transparent baseline.</a:t>
            </a:r>
          </a:p>
          <a:p xmlns:a="http://schemas.openxmlformats.org/drawingml/2006/main">
            <a:r>
              <a:t>Explain when a component framework becomes valuable.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npm ci and npm run build before adding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TasksView through taskService to the backend.</a:t>
            </a:r>
          </a:p>
          <a:p xmlns:a="http://schemas.openxmlformats.org/drawingml/2006/main">
            <a:r>
              <a:t>Explain why components do not call Axios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https://router.vuejs.org/</a:t>
            </a:r>
          </a:p>
          <a:p xmlns:a="http://schemas.openxmlformats.org/drawingml/2006/main">
            <a:r>
              <a:t>- https://axios-http.com/docs/intro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Navigate between login, tasks, and 404.</a:t>
            </a:r>
          </a:p>
          <a:p xmlns:a="http://schemas.openxmlformats.org/drawingml/2006/main">
            <a:r>
              <a:t>Inspect AppShell and router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https://router.vuejs.org/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loading, success, validation error, and unauthorized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https://axios-http.com/docs/intro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hiding a button is not security.</a:t>
            </a:r>
          </a:p>
          <a:p xmlns:a="http://schemas.openxmlformats.org/drawingml/2006/main">
            <a:r>
              <a:t>Use the Student role to demonstrate defense in depth.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https://cheatsheetseries.owasp.org/cheatsheets/Authentication_Cheat_Sheet.html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browser demo without editing data manually.</a:t>
            </a:r>
          </a:p>
          <a:p xmlns:a="http://schemas.openxmlformats.org/drawingml/2006/main">
            <a:r>
              <a:t>Close with what students would improve next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 handoff: follow the matching lab document and verify its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3ba1dcc9849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3ec4bff40a4a79" /><Relationship Type="http://schemas.openxmlformats.org/officeDocument/2006/relationships/slideLayout" Target="/ppt/slideLayouts/slideLayout1.xml" Id="Radf882bd512f45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f882bd512f45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9245c6f874bf9" /><Relationship Type="http://schemas.openxmlformats.org/officeDocument/2006/relationships/notesSlide" Target="/ppt/notesSlides/notesSlide1.xml" Id="Rf91f778edb6042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a5b6486644c36" /><Relationship Type="http://schemas.openxmlformats.org/officeDocument/2006/relationships/notesSlide" Target="/ppt/notesSlides/notesSlide2.xml" Id="R301a06403250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19b07d01046d3" /><Relationship Type="http://schemas.openxmlformats.org/officeDocument/2006/relationships/notesSlide" Target="/ppt/notesSlides/notesSlide3.xml" Id="Rd044de50676745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318a0c9ff4942" /><Relationship Type="http://schemas.openxmlformats.org/officeDocument/2006/relationships/notesSlide" Target="/ppt/notesSlides/notesSlide4.xml" Id="R98a6c0bf9fab4f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4eedffdf4ae3" /><Relationship Type="http://schemas.openxmlformats.org/officeDocument/2006/relationships/notesSlide" Target="/ppt/notesSlides/notesSlide5.xml" Id="R1856a009cb9544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34d0d991a469e" /><Relationship Type="http://schemas.openxmlformats.org/officeDocument/2006/relationships/notesSlide" Target="/ppt/notesSlides/notesSlide6.xml" Id="R542390ecd4ba41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eec767df24cd5" /><Relationship Type="http://schemas.openxmlformats.org/officeDocument/2006/relationships/notesSlide" Target="/ppt/notesSlides/notesSlide7.xml" Id="R465e835faeaf47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e3fe10c19459c" /><Relationship Type="http://schemas.openxmlformats.org/officeDocument/2006/relationships/notesSlide" Target="/ppt/notesSlides/notesSlide8.xml" Id="R750b74293df14f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2d627b71048cb" /><Relationship Type="http://schemas.openxmlformats.org/officeDocument/2006/relationships/notesSlide" Target="/ppt/notesSlides/notesSlide9.xml" Id="Rf52591c65c1349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ce7b0b184438e" /><Relationship Type="http://schemas.openxmlformats.org/officeDocument/2006/relationships/notesSlide" Target="/ppt/notesSlides/notesSlide10.xml" Id="Re7eba6a2c9fd4b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B5F3B-BB8B-46D9-A9B6-C2725FA1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62A8E-C4CC-456D-A099-4378C27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DAY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232AE-790E-4396-8352-C0C9BD3A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Frontend, Integration, and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8BC95-7673-4718-B0BC-BA30C4A6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87078"/>
                </a:solidFill>
              </a:defRPr>
            </a:pPr>
            <a:r>
              <a:rPr sz="1950" b="0">
                <a:solidFill>
                  <a:srgbClr val="687078"/>
                </a:solidFill>
              </a:rPr>
              <a:t>Turn a stable API into a usable full-stack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9E6AA-5BB4-435E-AEC7-9C0842EA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240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A504C-CA9D-4B75-800F-9A7C584F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28800"/>
            <a:ext cx="133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FD000"/>
                </a:solidFill>
              </a:defRPr>
            </a:pPr>
            <a:r>
              <a:rPr sz="6900" b="1">
                <a:solidFill>
                  <a:srgbClr val="FFD00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17B4A-F2BF-4730-A54E-16D2A32C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13 September 2026 · 08:30–18:00</a:t>
            </a:r>
          </a:p>
        </p:txBody>
      </p:sp>
    </p:spTree>
    <p:extLst>
      <p:ext uri="{BB962C8B-B14F-4D97-AF65-F5344CB8AC3E}">
        <p14:creationId xmlns:p14="http://schemas.microsoft.com/office/powerpoint/2010/main" val="1382232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5D356-FEE1-4C53-9E02-AC6FB549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4D1F4-3042-4BAD-934B-84E0992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UI/UX WITH GENERATIVE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3AA7B-15D7-4C15-9FFB-41E90567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Generate options before committing to a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03048-1529-4CCD-88BF-7BB5BBA3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A277D-0BBE-4F9A-817C-D02E26F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12E24-D0C3-4059-AB6B-62903212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C897F-3952-4FB7-9E07-A34571D0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CBED1-6FF9-41D3-A627-9BD54FD9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User and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771E2-972A-465F-B945-D899D462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E761D-D3C6-47CD-B84E-3C59393D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AE3CE-7C34-4637-AB44-3F9C153F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E700D-3BF5-4EBD-8661-FB8AD309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Layout concepts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CDB0C-200E-45AE-A8BA-9C340D14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159FA-1620-4DD1-BA05-477C9712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E379E-4F26-4B66-B04B-75A6C29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CRITIQUE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343B2-BA01-4D39-8C5A-8AD3E17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Clarity and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85307-23BB-41AF-A2ED-B3CBDC6A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66F24-8E50-46DF-AB86-86C84D5B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1DC80-B094-4A8F-ABBC-4D318721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PROTOTYPE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AD7B1-48E0-4C41-AC7A-DE7034AC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Small interaction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32E85-701F-4A6B-A8DC-33C71398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30504-7431-4E72-9AE1-DD772986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250B9-A9FF-4EC1-9356-DE08FECA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4EC4D-EB8C-410C-A942-3B09CD4B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Real user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5D25F-1876-4096-9F15-F7FA571B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AI expands the design space; usability evidence narrows it.</a:t>
            </a:r>
          </a:p>
        </p:txBody>
      </p:sp>
    </p:spTree>
    <p:extLst>
      <p:ext uri="{BB962C8B-B14F-4D97-AF65-F5344CB8AC3E}">
        <p14:creationId xmlns:p14="http://schemas.microsoft.com/office/powerpoint/2010/main" val="560219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15B07-E224-4CC8-8166-3E0C762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28643-9E52-4FE2-96C3-06220330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VUE.JS AND TYPESCRIPT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FF3C7-7435-47A4-86CC-A30D9301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Vue and TypeScript divide responsibility clearly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85982-FFB0-4D53-9BBC-DAB6444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58541-D7BF-4288-9763-B8AE50BA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FE386-AB97-4BAA-9675-653E32A1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E59F2-0257-4DE6-B086-6E79AABE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Template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5F66-5641-4406-A8BC-14F418A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Declares what users see from current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D612C-FDAB-4D53-9DEC-BE11AC0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D4F16-AFCD-4401-A688-FA87914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CF529-0B23-489F-AF42-2B075D3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Updates the view when state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4BB76-3037-4AE1-8AD5-24C24DBC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29F1E-4FD9-4CF1-B2BD-83D4B86D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A549F-6DEB-4336-A5FC-0FE5301C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Catch contract mistakes before runtime.</a:t>
            </a:r>
          </a:p>
        </p:txBody>
      </p:sp>
    </p:spTree>
    <p:extLst>
      <p:ext uri="{BB962C8B-B14F-4D97-AF65-F5344CB8AC3E}">
        <p14:creationId xmlns:p14="http://schemas.microsoft.com/office/powerpoint/2010/main" val="869336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1E1BF-B6B7-4002-B315-6B391CB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13803-0F72-4C59-B34E-DF42AA6C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UI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70177-8D21-4C35-8715-27F5999D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UI framework is leverage—not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BBA68-765C-466C-A177-D25DB5A3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3DD28-8EF2-4B1D-8FDF-70BEE703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E4327-359A-4565-B4ED-D3BC3236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F2F3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D9430-D806-4954-AB77-9330669D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2578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B6305-6711-46A7-BB98-5348EAD4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Framework helps with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41289-5ADF-4202-AC39-82DB9BD0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Consistent spacing and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6D727-FB8A-4F67-BE74-2C26EAEF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Accessibility foundations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EA0B9-C526-423F-868F-346044D9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Responsive patterns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56F3A-15F4-47B9-8462-967C42D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Faster visual assembly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B6279-5CA0-4D70-A5DE-6A37DD66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000"/>
                </a:solidFill>
              </a:defRPr>
            </a:pPr>
            <a:r>
              <a:rPr sz="2025" b="1">
                <a:solidFill>
                  <a:srgbClr val="FFD000"/>
                </a:solidFill>
              </a:rPr>
              <a:t>Application still owns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3AD72-0DA4-4C16-9E23-AB2113D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User flow and information hierarchy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EB59E-BA1B-4966-AF2F-FB9BAB07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State and business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F8CAB-7C4B-49BA-B972-577686B5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API contracts and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645C0-AA7C-4589-9BCE-97D9DCB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Performance and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975824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74407-2643-4E0A-9D8C-C147182D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39902-F380-4ECA-AC4C-4148FC93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VUE PROJECT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E140B-A664-4CC2-B582-AE362920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clean Vue project starts with one verified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DB560-02C5-4723-8763-A386FAA4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EADF4-8EBA-40A4-9A04-F5B8840A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05E0E-6E29-4199-AC95-D0B0DDD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DF8ED-9ED7-4ED8-8DC6-81002D3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CREATE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ADB18-2155-4C17-9A30-0E6CEB0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Vite + Vue + 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A9E71-0D77-46C8-85DB-BB4632D6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77A75-B554-4335-9E53-B10F0097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AB4C0-D11A-4240-B0AE-4537B97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INSTALL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01991-9CB3-4736-9A54-DA5AB103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Router and Axios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8EFCC-26F7-489D-9A72-7C1B6E0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99735-5A04-4C65-A786-C860902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D6A37-FD3A-403C-B82A-6D63E54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CLEAN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2E854-1AC1-4777-A7CB-CC37DB2C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Remove starter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13661-3E0D-4DEA-AC7F-28A7104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8A109-092F-4086-8935-D9FA5565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BFCE2-C8B6-4781-ADE4-83BDC4AD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E61D3-8366-4913-B5F3-FDDB78A7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Define TaskItem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D23F2-DFF9-4E3E-9A18-146142A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56389-24A3-4BC7-9248-6AD33ED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C990E-BE22-4B9E-BA9C-3CAD7A1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DBFFC-BDA4-43A6-804E-5F25E95C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npm run 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17C26-62FF-435D-838E-D2ACF3D2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Start small, build often, and keep errors close to their cause.</a:t>
            </a:r>
          </a:p>
        </p:txBody>
      </p:sp>
    </p:spTree>
    <p:extLst>
      <p:ext uri="{BB962C8B-B14F-4D97-AF65-F5344CB8AC3E}">
        <p14:creationId xmlns:p14="http://schemas.microsoft.com/office/powerpoint/2010/main" val="1373854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D20A7-412A-4ADF-BC19-FAF7BB1B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0F367-E976-4F29-9C29-75F20F70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FRONTEND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8EA36-7133-4939-9278-E7AEDE32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Frontend boundaries keep change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7B802-6BF5-4283-9E24-C8F31AEC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95AB9-AAA5-4C1F-82E2-33901F3A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8ABB7-9E8E-4382-806C-C6714B5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8001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6ED05-D6C6-46B5-AB5C-D033DA27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85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Views and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3BC0F-DC6B-42E6-9D66-6581E7A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80E80-1B4F-43E7-B315-8749B60B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241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Router and auth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D7FF6-228B-4C2F-B4C2-04CA7779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E54B3-6176-445A-8E77-08C33FFB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23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Axios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DB28D-D573-4E99-96D2-E5DCB622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50C9F-FD2D-429F-A9D0-7C26674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00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Backend API</a:t>
            </a:r>
          </a:p>
        </p:txBody>
      </p:sp>
    </p:spTree>
    <p:extLst>
      <p:ext uri="{BB962C8B-B14F-4D97-AF65-F5344CB8AC3E}">
        <p14:creationId xmlns:p14="http://schemas.microsoft.com/office/powerpoint/2010/main" val="435905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2C135-3EF1-4B97-AB6C-0A1148FF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9A0CB-47FD-4F05-9CED-2FF2C13B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APPLICATION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C716E-14A1-4611-B779-8DEEE75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shell gives every feature a stable 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BBA7C-23C3-403E-86B9-F880FAA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F7504-3B78-48E6-8717-EA8BC6D7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1255A-37C0-459F-BFCE-3E492CF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C845D-0433-44CD-B0F5-C9A98A02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App shell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CF541-1109-41A4-BBE4-40577870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Brand, user context, navigation, and logout.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67462-2E0F-41D1-8BC8-CCF4DA7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066D4-9F3A-4D4E-BBAD-E9333220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Router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B8DBE-3094-47BF-9D88-777477D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Changes screens without a full page reload.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FE16B-1E45-4550-81E4-4B34EFEC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000"/>
                </a:solidFill>
              </a:defRPr>
            </a:pPr>
            <a:r>
              <a:rPr sz="2400" b="1">
                <a:solidFill>
                  <a:srgbClr val="FFD00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4DBC4-C05E-4CAD-9324-3A22CEF2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Responsive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70EFF-3A4C-4532-81AE-1B2D0908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Preserves hierarchy from laptop to mobile.</a:t>
            </a:r>
          </a:p>
        </p:txBody>
      </p:sp>
    </p:spTree>
    <p:extLst>
      <p:ext uri="{BB962C8B-B14F-4D97-AF65-F5344CB8AC3E}">
        <p14:creationId xmlns:p14="http://schemas.microsoft.com/office/powerpoint/2010/main" val="1127658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F139D-8D6C-484E-B059-8D698644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D96EB-5525-4E5B-8698-C730783B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AXIOS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78646-392F-4CD3-84CD-BDEEB94E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Axios centralizes the API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0204C-4492-42B6-B71E-D6CB690F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9E0F8-8E78-4D4E-9F13-B9E61CE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33230-AC7E-499F-B04F-F75D784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6C319-CE4B-4ECF-96ED-B45DE0C1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F0925-4007-4D5D-9798-4E6492C5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Requests task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1264C-21B2-4C47-9312-119C58B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98871-45A3-4468-B02C-747BB0C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25580-85AE-4BC1-A107-66E467C4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D4542-7A56-4D67-95DC-193FD06A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Uses typed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50D35-8D19-408C-BEBB-12F946B6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E62D6-85CC-4956-8526-F832A3B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B758B-F4CD-41ED-8FA4-01A2551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INSTANCE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71265-7CE8-44E0-9A4E-DDE58818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Adds base URL +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1A4C3-8D8A-4CEB-862B-DDE4C5F9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5501F-2D53-4DB4-B412-38E9C2EC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D8DD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E6547-A4E4-4198-9D0F-BCC423F1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BA5C3-37D8-4DC8-8032-8466E896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Returns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ED772-595A-45F7-918A-C7A45860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165DF-C09C-4F17-B108-8AB31E7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981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C2EB9-4315-49E0-8CF0-6CD01258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078"/>
                </a:solidFill>
              </a:defRPr>
            </a:pPr>
            <a:r>
              <a:rPr sz="1050" b="1">
                <a:solidFill>
                  <a:srgbClr val="687078"/>
                </a:solidFill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FF2A5-727D-428F-939A-A20BC88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Shows data or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CF50C-FA45-4B0A-A884-26B376C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One HTTP client makes configuration and failure behavior predictable.</a:t>
            </a:r>
          </a:p>
        </p:txBody>
      </p:sp>
    </p:spTree>
    <p:extLst>
      <p:ext uri="{BB962C8B-B14F-4D97-AF65-F5344CB8AC3E}">
        <p14:creationId xmlns:p14="http://schemas.microsoft.com/office/powerpoint/2010/main" val="354897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533D2-4599-4E27-979D-197807C0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239B1-1845-43D5-A5E8-875AE501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FRONTEND AUTHENTICATION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F3E2F-2377-44BE-BBEE-467440C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Frontend auth improves flow; backend auth enforces 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3AFA9-BAA2-4EF9-986A-1CC6582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1A60B-47F2-4B25-B4E7-C9FDF0B9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A5844-27F8-4575-9C2F-A0171FE6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F2F3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DF6F3-8C8E-4239-B9A1-691BA31A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2578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60747-E37E-42BE-80F4-AC09343C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Frontend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D4E8A-FF11-438B-9B00-BA220D42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Collect credentials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BB048-DC58-45BB-A4AC-99E09D86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Store the workshop 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A2A98-ED95-4E5A-8F53-5C1F17AD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Attach Bearer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74CA8-C809-4414-92B5-EAB6F4DB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—  Guard routes and handle expiry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22611-9F8B-4168-838A-8393749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000"/>
                </a:solidFill>
              </a:defRPr>
            </a:pPr>
            <a:r>
              <a:rPr sz="2025" b="1">
                <a:solidFill>
                  <a:srgbClr val="FFD000"/>
                </a:solidFill>
              </a:rPr>
              <a:t>Backend responsibility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455B2-03A6-47D2-BD29-02A72E6E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Validate the token signature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FA279-B1F7-4EDB-9587-99E2F057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Read identity and role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50E1E-0428-4438-91B3-E4B011DE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Reject unauthorized requests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41073-1609-4A03-8F4D-02BC0CD1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—  Enforce delete permission</a:t>
            </a:r>
          </a:p>
        </p:txBody>
      </p:sp>
    </p:spTree>
    <p:extLst>
      <p:ext uri="{BB962C8B-B14F-4D97-AF65-F5344CB8AC3E}">
        <p14:creationId xmlns:p14="http://schemas.microsoft.com/office/powerpoint/2010/main" val="480764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C9431-F2B7-4840-BCF9-D638C208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00"/>
          </a:solidFill>
          <a:ln xmlns:a="http://schemas.openxmlformats.org/drawingml/2006/main" w="0">
            <a:solidFill>
              <a:srgbClr val="FFD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AB180-D9AC-4956-BF19-F3D80962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FINAL BUILD AND RETROSPECTIVE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369FE-274E-4C7F-95D9-2C8F782F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product is complete when the full flow is repeatable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F50A5-A040-474C-BA29-71318B2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ACD78-541E-43BF-A261-23AEB2D5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KU Web Technology Development ·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3B25A-D961-42A7-AC4A-E38319C6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Login → list → create → edit → persist → delete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CDFA8-B7CA-4DCD-9132-10B440A6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0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87078"/>
                </a:solidFill>
              </a:defRPr>
            </a:pPr>
            <a:r>
              <a:rPr sz="1875" b="0">
                <a:solidFill>
                  <a:srgbClr val="687078"/>
                </a:solidFill>
              </a:rPr>
              <a:t>CI repeats the build, tests, and browser flow so the demo is not based on hope.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4B1A0-6883-4428-BF7C-DD1EABB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000"/>
          </a:solidFill>
          <a:ln xmlns:a="http://schemas.openxmlformats.org/drawingml/2006/main" w="9525">
            <a:solidFill>
              <a:srgbClr val="FF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7D5F2-0076-416B-AA08-F900173E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Checkpoint: final</a:t>
            </a:r>
          </a:p>
        </p:txBody>
      </p:sp>
    </p:spTree>
    <p:extLst>
      <p:ext uri="{BB962C8B-B14F-4D97-AF65-F5344CB8AC3E}">
        <p14:creationId xmlns:p14="http://schemas.microsoft.com/office/powerpoint/2010/main" val="517136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2026-08-29T16:04:25.3360000Z</dcterms:created>
  <dcterms:modified xsi:type="dcterms:W3CDTF">2026-08-29T16:04:25.3360000Z</dcterms:modified>
</coreProperties>
</file>